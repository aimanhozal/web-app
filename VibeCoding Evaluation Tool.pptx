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2E4421-5F34-F943-CBFF-E39A63D1D44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CC2E86D7-8475-D062-A474-FD22DB324C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2966D7FE-E466-3F4A-2E07-30929ED4C407}"/>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5" name="Fußzeilenplatzhalter 4">
            <a:extLst>
              <a:ext uri="{FF2B5EF4-FFF2-40B4-BE49-F238E27FC236}">
                <a16:creationId xmlns:a16="http://schemas.microsoft.com/office/drawing/2014/main" id="{8C679106-5917-FC13-F6FB-C3CEE1F8270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77311EB-DD08-0587-167A-518AF7247CE7}"/>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1362955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D0B577-0598-285C-0B36-42C71340189A}"/>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1C22FF3F-5446-BA9D-5996-9C3EAFB88577}"/>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5A550B6-D2D0-EC1A-E689-801FD8176BB5}"/>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5" name="Fußzeilenplatzhalter 4">
            <a:extLst>
              <a:ext uri="{FF2B5EF4-FFF2-40B4-BE49-F238E27FC236}">
                <a16:creationId xmlns:a16="http://schemas.microsoft.com/office/drawing/2014/main" id="{25B028BB-10B2-C206-3869-4005A7F4B57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576A1E3-219B-4EEB-7C4C-6B46CC3D6074}"/>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1991082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3870E9-AB8D-324D-583D-04B2406DD554}"/>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D0138BA6-5F53-1585-C483-44F442ABCE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CC0AFAB-2A2E-C7BB-B856-091A3FA523B6}"/>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5" name="Fußzeilenplatzhalter 4">
            <a:extLst>
              <a:ext uri="{FF2B5EF4-FFF2-40B4-BE49-F238E27FC236}">
                <a16:creationId xmlns:a16="http://schemas.microsoft.com/office/drawing/2014/main" id="{6E956C60-69BE-E4B9-D999-B6469F7FA80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A8804CF-2568-2992-C555-0D077489787B}"/>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814872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00271F-D48D-0B9F-297E-4837452BE5A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C9E440E-AF36-653D-8039-EAAD24D05A4A}"/>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7A4F2CA-BD59-01C0-A900-0B1652C20AEF}"/>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25E5372-3F34-ACF5-BC98-6E32C2D5DD6A}"/>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6" name="Fußzeilenplatzhalter 5">
            <a:extLst>
              <a:ext uri="{FF2B5EF4-FFF2-40B4-BE49-F238E27FC236}">
                <a16:creationId xmlns:a16="http://schemas.microsoft.com/office/drawing/2014/main" id="{BD8FA8E9-5AD6-2E53-E0A4-9DF50A04C6A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227A92D-DA04-D80E-AD80-82549B5632DA}"/>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371685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C276EC-A516-39AC-9A2E-F3E9FFB80D5C}"/>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D20C68E6-FE7E-1A3B-C924-D393F6B3C0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97EABC0-E703-4C17-5CAD-6A2F3EABF7EE}"/>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B7B74C6A-CA88-9310-7753-05598C7667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9BBBC446-03A7-1E9F-72CA-E9045525D4A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3AE0AEC-BF0F-85A3-EDE7-2ED556A11DF7}"/>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8" name="Fußzeilenplatzhalter 7">
            <a:extLst>
              <a:ext uri="{FF2B5EF4-FFF2-40B4-BE49-F238E27FC236}">
                <a16:creationId xmlns:a16="http://schemas.microsoft.com/office/drawing/2014/main" id="{274D0E6C-42E3-8A71-0905-9802794B1241}"/>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D951E76F-6BF0-F0E1-46D3-8D0311899655}"/>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3902609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275ECF-DC55-2DBE-B8EE-E1D9EFE9AB4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4E79CA67-8E3B-88B3-1237-A65CD2747705}"/>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4" name="Fußzeilenplatzhalter 3">
            <a:extLst>
              <a:ext uri="{FF2B5EF4-FFF2-40B4-BE49-F238E27FC236}">
                <a16:creationId xmlns:a16="http://schemas.microsoft.com/office/drawing/2014/main" id="{99CDDEC0-9762-C6CA-E6DB-06494D98CA40}"/>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1C8D769-8EF7-EEF2-9CDA-11C9CE67FF88}"/>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4226215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2F681F9-00EE-DF03-72D1-ACC42DB1AE16}"/>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3" name="Fußzeilenplatzhalter 2">
            <a:extLst>
              <a:ext uri="{FF2B5EF4-FFF2-40B4-BE49-F238E27FC236}">
                <a16:creationId xmlns:a16="http://schemas.microsoft.com/office/drawing/2014/main" id="{04EE927E-61F8-1841-2DC1-98722440C39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177E6A3-9F40-9071-EC77-41FBE7B28AFE}"/>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383099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CEA916-868B-7465-8FC2-46AC3753E90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6F20861A-DF09-9249-614C-17ED5E7A3F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3FAD5041-C96A-61F8-AC2C-6B0308261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15FA62C-CC6C-918B-77A7-E39FC30FFD3C}"/>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6" name="Fußzeilenplatzhalter 5">
            <a:extLst>
              <a:ext uri="{FF2B5EF4-FFF2-40B4-BE49-F238E27FC236}">
                <a16:creationId xmlns:a16="http://schemas.microsoft.com/office/drawing/2014/main" id="{F7638148-0165-FA1A-9D15-B5EF399908D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11EE5C5-A7AD-EC0D-5366-F245B789C1D3}"/>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2399704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AE3629-FE67-5C6D-F5BE-A22760B707A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465C82FC-260C-670B-7FA7-19B77A9CD3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4F24951C-9E2C-15FC-DF31-E7ECDA7683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4634225-2AD1-ECD3-CFF0-9333DFAB1F94}"/>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6" name="Fußzeilenplatzhalter 5">
            <a:extLst>
              <a:ext uri="{FF2B5EF4-FFF2-40B4-BE49-F238E27FC236}">
                <a16:creationId xmlns:a16="http://schemas.microsoft.com/office/drawing/2014/main" id="{C9135E17-3DA6-77B2-0741-C893185D49E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3DA490B-200A-D241-9AFA-81946252F46C}"/>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843812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ACB062-ED7D-F688-748D-074EE6DF4789}"/>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3BC03E0D-FA66-0FAC-C0A1-CAE629C61F0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03E3DAF-6D1B-D6AD-58AF-D33A5D6E7E24}"/>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5" name="Fußzeilenplatzhalter 4">
            <a:extLst>
              <a:ext uri="{FF2B5EF4-FFF2-40B4-BE49-F238E27FC236}">
                <a16:creationId xmlns:a16="http://schemas.microsoft.com/office/drawing/2014/main" id="{C96ECFD0-9908-EB0C-F3D0-81FAEE3E9ED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F4AEFEF-26D6-BC42-56BE-7891F677C8CF}"/>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3139172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12C29B92-B5CA-FB99-A6BA-9612AD6ABB36}"/>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B2E534BF-29BE-F431-3B17-3882296B810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2610227-4FB9-54BD-3D96-8375CF1DB939}"/>
              </a:ext>
            </a:extLst>
          </p:cNvPr>
          <p:cNvSpPr>
            <a:spLocks noGrp="1"/>
          </p:cNvSpPr>
          <p:nvPr>
            <p:ph type="dt" sz="half" idx="10"/>
          </p:nvPr>
        </p:nvSpPr>
        <p:spPr/>
        <p:txBody>
          <a:bodyPr/>
          <a:lstStyle/>
          <a:p>
            <a:fld id="{A4E4A371-0DD3-41D1-A21E-EFC3EE5B0550}" type="datetimeFigureOut">
              <a:rPr lang="de-DE" smtClean="0"/>
              <a:t>10.12.2025</a:t>
            </a:fld>
            <a:endParaRPr lang="de-DE"/>
          </a:p>
        </p:txBody>
      </p:sp>
      <p:sp>
        <p:nvSpPr>
          <p:cNvPr id="5" name="Fußzeilenplatzhalter 4">
            <a:extLst>
              <a:ext uri="{FF2B5EF4-FFF2-40B4-BE49-F238E27FC236}">
                <a16:creationId xmlns:a16="http://schemas.microsoft.com/office/drawing/2014/main" id="{7CD133A4-B3D0-E22C-CE30-ED20445E775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305F841-562F-C603-62E0-DB4AD32C588E}"/>
              </a:ext>
            </a:extLst>
          </p:cNvPr>
          <p:cNvSpPr>
            <a:spLocks noGrp="1"/>
          </p:cNvSpPr>
          <p:nvPr>
            <p:ph type="sldNum" sz="quarter" idx="12"/>
          </p:nvPr>
        </p:nvSpPr>
        <p:spPr/>
        <p:txBody>
          <a:bodyPr/>
          <a:lstStyle/>
          <a:p>
            <a:fld id="{71BB7912-7253-45C8-A8B7-D2B4B765663F}" type="slidenum">
              <a:rPr lang="de-DE" smtClean="0"/>
              <a:t>‹Nr.›</a:t>
            </a:fld>
            <a:endParaRPr lang="de-DE"/>
          </a:p>
        </p:txBody>
      </p:sp>
    </p:spTree>
    <p:extLst>
      <p:ext uri="{BB962C8B-B14F-4D97-AF65-F5344CB8AC3E}">
        <p14:creationId xmlns:p14="http://schemas.microsoft.com/office/powerpoint/2010/main" val="2128913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5FD64D2-B82A-B9AC-24DB-054847A83A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0AD3468D-FD22-4AAD-D04E-27A701E8E0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636F23F-84BA-6329-2D82-FBA82618B7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E4A371-0DD3-41D1-A21E-EFC3EE5B0550}" type="datetimeFigureOut">
              <a:rPr lang="de-DE" smtClean="0"/>
              <a:t>10.12.2025</a:t>
            </a:fld>
            <a:endParaRPr lang="de-DE"/>
          </a:p>
        </p:txBody>
      </p:sp>
      <p:sp>
        <p:nvSpPr>
          <p:cNvPr id="5" name="Fußzeilenplatzhalter 4">
            <a:extLst>
              <a:ext uri="{FF2B5EF4-FFF2-40B4-BE49-F238E27FC236}">
                <a16:creationId xmlns:a16="http://schemas.microsoft.com/office/drawing/2014/main" id="{4ED00E78-6C54-2D24-A3B1-CD4D14974C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32EF27C8-83DA-22E8-68F0-743B481FD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BB7912-7253-45C8-A8B7-D2B4B765663F}" type="slidenum">
              <a:rPr lang="de-DE" smtClean="0"/>
              <a:t>‹Nr.›</a:t>
            </a:fld>
            <a:endParaRPr lang="de-DE"/>
          </a:p>
        </p:txBody>
      </p:sp>
    </p:spTree>
    <p:extLst>
      <p:ext uri="{BB962C8B-B14F-4D97-AF65-F5344CB8AC3E}">
        <p14:creationId xmlns:p14="http://schemas.microsoft.com/office/powerpoint/2010/main" val="3693836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el 1">
            <a:extLst>
              <a:ext uri="{FF2B5EF4-FFF2-40B4-BE49-F238E27FC236}">
                <a16:creationId xmlns:a16="http://schemas.microsoft.com/office/drawing/2014/main" id="{81DAB77C-70BE-F562-2B8A-B5211834B2DA}"/>
              </a:ext>
            </a:extLst>
          </p:cNvPr>
          <p:cNvSpPr>
            <a:spLocks noGrp="1"/>
          </p:cNvSpPr>
          <p:nvPr>
            <p:ph type="ctrTitle"/>
          </p:nvPr>
        </p:nvSpPr>
        <p:spPr>
          <a:xfrm>
            <a:off x="3880430" y="583345"/>
            <a:ext cx="7160357" cy="4164820"/>
          </a:xfrm>
        </p:spPr>
        <p:txBody>
          <a:bodyPr anchor="t">
            <a:normAutofit/>
          </a:bodyPr>
          <a:lstStyle/>
          <a:p>
            <a:pPr algn="r"/>
            <a:r>
              <a:rPr lang="de-DE" sz="8000" b="1" dirty="0" err="1">
                <a:solidFill>
                  <a:srgbClr val="FFFFFF"/>
                </a:solidFill>
              </a:rPr>
              <a:t>VibeCoding</a:t>
            </a:r>
            <a:r>
              <a:rPr lang="de-DE" sz="8000" b="1" dirty="0">
                <a:solidFill>
                  <a:srgbClr val="FFFFFF"/>
                </a:solidFill>
              </a:rPr>
              <a:t> Evaluation Tool</a:t>
            </a:r>
            <a:endParaRPr lang="de-DE" sz="8000" dirty="0">
              <a:solidFill>
                <a:srgbClr val="FFFFFF"/>
              </a:solidFill>
            </a:endParaRPr>
          </a:p>
        </p:txBody>
      </p:sp>
      <p:sp>
        <p:nvSpPr>
          <p:cNvPr id="3" name="Untertitel 2">
            <a:extLst>
              <a:ext uri="{FF2B5EF4-FFF2-40B4-BE49-F238E27FC236}">
                <a16:creationId xmlns:a16="http://schemas.microsoft.com/office/drawing/2014/main" id="{2E3A76A3-E066-2510-5137-091884BC1F3C}"/>
              </a:ext>
            </a:extLst>
          </p:cNvPr>
          <p:cNvSpPr>
            <a:spLocks noGrp="1"/>
          </p:cNvSpPr>
          <p:nvPr>
            <p:ph type="subTitle" idx="1"/>
          </p:nvPr>
        </p:nvSpPr>
        <p:spPr>
          <a:xfrm>
            <a:off x="1208228" y="5972174"/>
            <a:ext cx="8578699" cy="504825"/>
          </a:xfrm>
        </p:spPr>
        <p:txBody>
          <a:bodyPr>
            <a:normAutofit/>
          </a:bodyPr>
          <a:lstStyle/>
          <a:p>
            <a:pPr algn="l"/>
            <a:r>
              <a:rPr lang="en-US" sz="1400">
                <a:solidFill>
                  <a:srgbClr val="FFFFFF"/>
                </a:solidFill>
              </a:rPr>
              <a:t>"Good morning everyone. My name is [Your Name], and today I am presenting the </a:t>
            </a:r>
            <a:r>
              <a:rPr lang="en-US" sz="1400" b="1">
                <a:solidFill>
                  <a:srgbClr val="FFFFFF"/>
                </a:solidFill>
              </a:rPr>
              <a:t>VibeCoding Evaluation Tool</a:t>
            </a:r>
            <a:r>
              <a:rPr lang="en-US" sz="1400">
                <a:solidFill>
                  <a:srgbClr val="FFFFFF"/>
                </a:solidFill>
              </a:rPr>
              <a:t>. This project was born from a simple question: Why does grading have to be boring?"</a:t>
            </a:r>
            <a:endParaRPr lang="de-DE" sz="1400">
              <a:solidFill>
                <a:srgbClr val="FFFFFF"/>
              </a:solidFill>
            </a:endParaRP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46966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el 1">
            <a:extLst>
              <a:ext uri="{FF2B5EF4-FFF2-40B4-BE49-F238E27FC236}">
                <a16:creationId xmlns:a16="http://schemas.microsoft.com/office/drawing/2014/main" id="{D826C23B-0229-96A2-61E4-86863832793B}"/>
              </a:ext>
            </a:extLst>
          </p:cNvPr>
          <p:cNvSpPr>
            <a:spLocks noGrp="1"/>
          </p:cNvSpPr>
          <p:nvPr>
            <p:ph type="title"/>
          </p:nvPr>
        </p:nvSpPr>
        <p:spPr>
          <a:xfrm>
            <a:off x="1188069" y="381935"/>
            <a:ext cx="4008583" cy="5974414"/>
          </a:xfrm>
        </p:spPr>
        <p:txBody>
          <a:bodyPr anchor="ctr">
            <a:normAutofit/>
          </a:bodyPr>
          <a:lstStyle/>
          <a:p>
            <a:r>
              <a:rPr lang="de-DE" sz="8000">
                <a:solidFill>
                  <a:srgbClr val="FFFFFF"/>
                </a:solidFill>
              </a:rPr>
              <a:t>The Problem</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Inhaltsplatzhalter 2">
            <a:extLst>
              <a:ext uri="{FF2B5EF4-FFF2-40B4-BE49-F238E27FC236}">
                <a16:creationId xmlns:a16="http://schemas.microsoft.com/office/drawing/2014/main" id="{07FC05A5-03B6-FB65-F0A4-53E2779BFEF9}"/>
              </a:ext>
            </a:extLst>
          </p:cNvPr>
          <p:cNvSpPr>
            <a:spLocks noGrp="1"/>
          </p:cNvSpPr>
          <p:nvPr>
            <p:ph idx="1"/>
          </p:nvPr>
        </p:nvSpPr>
        <p:spPr>
          <a:xfrm>
            <a:off x="6297233" y="518400"/>
            <a:ext cx="4771607" cy="5837949"/>
          </a:xfrm>
        </p:spPr>
        <p:txBody>
          <a:bodyPr anchor="ctr">
            <a:normAutofit/>
          </a:bodyPr>
          <a:lstStyle/>
          <a:p>
            <a:r>
              <a:rPr lang="en-US" sz="2000">
                <a:solidFill>
                  <a:schemeClr val="tx1">
                    <a:alpha val="80000"/>
                  </a:schemeClr>
                </a:solidFill>
              </a:rPr>
              <a:t>"We all know the struggle. Evaluating student projects involves paper forms, static Excel sheets, and a lot of repetition. It leads to 'grading fatigue,' subjectivity, and administrative chaos. I wanted to solve this by building a tool that is standardized, efficient, and—most importantly—engaging."</a:t>
            </a:r>
            <a:endParaRPr lang="de-DE" sz="20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6107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CEA8DE-0935-7E1D-9185-7805B8488EBE}"/>
              </a:ext>
            </a:extLst>
          </p:cNvPr>
          <p:cNvSpPr>
            <a:spLocks noGrp="1"/>
          </p:cNvSpPr>
          <p:nvPr>
            <p:ph type="title"/>
          </p:nvPr>
        </p:nvSpPr>
        <p:spPr/>
        <p:txBody>
          <a:bodyPr/>
          <a:lstStyle/>
          <a:p>
            <a:r>
              <a:rPr lang="de-DE" dirty="0"/>
              <a:t>System </a:t>
            </a:r>
            <a:r>
              <a:rPr lang="de-DE" dirty="0" err="1"/>
              <a:t>Requirements</a:t>
            </a:r>
            <a:r>
              <a:rPr lang="de-DE" dirty="0"/>
              <a:t> &amp; Tech Stack</a:t>
            </a:r>
          </a:p>
        </p:txBody>
      </p:sp>
      <p:sp>
        <p:nvSpPr>
          <p:cNvPr id="3" name="Inhaltsplatzhalter 2">
            <a:extLst>
              <a:ext uri="{FF2B5EF4-FFF2-40B4-BE49-F238E27FC236}">
                <a16:creationId xmlns:a16="http://schemas.microsoft.com/office/drawing/2014/main" id="{EADE3AFE-D73E-6045-DE85-7438D2CA66E2}"/>
              </a:ext>
            </a:extLst>
          </p:cNvPr>
          <p:cNvSpPr>
            <a:spLocks noGrp="1"/>
          </p:cNvSpPr>
          <p:nvPr>
            <p:ph idx="1"/>
          </p:nvPr>
        </p:nvSpPr>
        <p:spPr/>
        <p:txBody>
          <a:bodyPr/>
          <a:lstStyle/>
          <a:p>
            <a:pPr marL="0" indent="0">
              <a:buNone/>
            </a:pPr>
            <a:r>
              <a:rPr lang="en-US" dirty="0"/>
              <a:t>"Technically, the application is a robust Full-Stack Web App.</a:t>
            </a:r>
          </a:p>
          <a:p>
            <a:r>
              <a:rPr lang="en-US" b="1" dirty="0"/>
              <a:t>Backend:</a:t>
            </a:r>
            <a:r>
              <a:rPr lang="en-US" dirty="0"/>
              <a:t> I used </a:t>
            </a:r>
            <a:r>
              <a:rPr lang="en-US" b="1" dirty="0"/>
              <a:t>Python Flask</a:t>
            </a:r>
            <a:r>
              <a:rPr lang="en-US" dirty="0"/>
              <a:t> for logic and routing.</a:t>
            </a:r>
          </a:p>
          <a:p>
            <a:r>
              <a:rPr lang="en-US" b="1" dirty="0"/>
              <a:t>Frontend:</a:t>
            </a:r>
            <a:r>
              <a:rPr lang="en-US" dirty="0"/>
              <a:t> Pure HTML5 and Vanilla JavaScript—no heavy frameworks, just raw coding skills.</a:t>
            </a:r>
          </a:p>
          <a:p>
            <a:r>
              <a:rPr lang="en-US" b="1" dirty="0"/>
              <a:t>DevOps:</a:t>
            </a:r>
            <a:r>
              <a:rPr lang="en-US" dirty="0"/>
              <a:t> The entire app is </a:t>
            </a:r>
            <a:r>
              <a:rPr lang="en-US" b="1" dirty="0" err="1"/>
              <a:t>Dockerized</a:t>
            </a:r>
            <a:r>
              <a:rPr lang="en-US" dirty="0"/>
              <a:t>. You can deploy it anywhere with one command: docker-compose up.</a:t>
            </a:r>
          </a:p>
          <a:p>
            <a:r>
              <a:rPr lang="en-US" b="1" dirty="0"/>
              <a:t>Reporting:</a:t>
            </a:r>
            <a:r>
              <a:rPr lang="en-US" dirty="0"/>
              <a:t> It uses </a:t>
            </a:r>
            <a:r>
              <a:rPr lang="en-US" b="1" dirty="0" err="1"/>
              <a:t>ReportLab</a:t>
            </a:r>
            <a:r>
              <a:rPr lang="en-US" dirty="0"/>
              <a:t> to generate pixel-perfect PDFs."</a:t>
            </a:r>
          </a:p>
          <a:p>
            <a:endParaRPr lang="de-DE" dirty="0"/>
          </a:p>
        </p:txBody>
      </p:sp>
    </p:spTree>
    <p:extLst>
      <p:ext uri="{BB962C8B-B14F-4D97-AF65-F5344CB8AC3E}">
        <p14:creationId xmlns:p14="http://schemas.microsoft.com/office/powerpoint/2010/main" val="2072970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2A834B-DFDC-1331-7DD0-17CC18CCC728}"/>
              </a:ext>
            </a:extLst>
          </p:cNvPr>
          <p:cNvSpPr>
            <a:spLocks noGrp="1"/>
          </p:cNvSpPr>
          <p:nvPr>
            <p:ph type="title"/>
          </p:nvPr>
        </p:nvSpPr>
        <p:spPr/>
        <p:txBody>
          <a:bodyPr/>
          <a:lstStyle/>
          <a:p>
            <a:r>
              <a:rPr lang="en-US" dirty="0"/>
              <a:t>LIVE DEMO - Switch to Browser (Action: Open http://localhost:5000)</a:t>
            </a:r>
            <a:endParaRPr lang="de-DE" dirty="0"/>
          </a:p>
        </p:txBody>
      </p:sp>
      <p:sp>
        <p:nvSpPr>
          <p:cNvPr id="4" name="Rectangle 1">
            <a:extLst>
              <a:ext uri="{FF2B5EF4-FFF2-40B4-BE49-F238E27FC236}">
                <a16:creationId xmlns:a16="http://schemas.microsoft.com/office/drawing/2014/main" id="{1A6F11CF-6F73-3F61-FE1A-16CA084EBBBF}"/>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800" b="1" i="0" u="none" strike="noStrike" cap="none" normalizeH="0" baseline="0">
                <a:ln>
                  <a:noFill/>
                </a:ln>
                <a:solidFill>
                  <a:schemeClr val="tx1"/>
                </a:solidFill>
                <a:effectLst/>
                <a:latin typeface="Arial" panose="020B0604020202020204" pitchFamily="34" charset="0"/>
              </a:rPr>
              <a:t>Login:</a:t>
            </a:r>
            <a:r>
              <a:rPr kumimoji="0" lang="de-DE" altLang="de-DE" sz="1800" b="0" i="0" u="none" strike="noStrike" cap="none" normalizeH="0" baseline="0">
                <a:ln>
                  <a:noFill/>
                </a:ln>
                <a:solidFill>
                  <a:schemeClr val="tx1"/>
                </a:solidFill>
                <a:effectLst/>
                <a:latin typeface="Arial" panose="020B0604020202020204" pitchFamily="34" charset="0"/>
              </a:rPr>
              <a:t> "Here is the login screen. Notice the particle animation in the background—these are 50 individual elements rendered in real-time." </a:t>
            </a:r>
            <a:r>
              <a:rPr kumimoji="0" lang="de-DE" altLang="de-DE" sz="1800" b="0" i="1" u="none" strike="noStrike" cap="none" normalizeH="0" baseline="0">
                <a:ln>
                  <a:noFill/>
                </a:ln>
                <a:solidFill>
                  <a:schemeClr val="tx1"/>
                </a:solidFill>
                <a:effectLst/>
                <a:latin typeface="Arial" panose="020B0604020202020204" pitchFamily="34" charset="0"/>
              </a:rPr>
              <a:t>(Log in)</a:t>
            </a:r>
            <a:endParaRPr kumimoji="0" lang="de-DE" altLang="de-DE"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800" b="1" i="0" u="none" strike="noStrike" cap="none" normalizeH="0" baseline="0">
                <a:ln>
                  <a:noFill/>
                </a:ln>
                <a:solidFill>
                  <a:schemeClr val="tx1"/>
                </a:solidFill>
                <a:effectLst/>
                <a:latin typeface="Arial" panose="020B0604020202020204" pitchFamily="34" charset="0"/>
              </a:rPr>
              <a:t>Dashboard:</a:t>
            </a:r>
            <a:r>
              <a:rPr kumimoji="0" lang="de-DE" altLang="de-DE" sz="1800" b="0" i="0" u="none" strike="noStrike" cap="none" normalizeH="0" baseline="0">
                <a:ln>
                  <a:noFill/>
                </a:ln>
                <a:solidFill>
                  <a:schemeClr val="tx1"/>
                </a:solidFill>
                <a:effectLst/>
                <a:latin typeface="Arial" panose="020B0604020202020204" pitchFamily="34" charset="0"/>
              </a:rPr>
              <a:t> "This is the Dashboard. It’s the command center. Let's start a new evaluation." </a:t>
            </a:r>
            <a:r>
              <a:rPr kumimoji="0" lang="de-DE" altLang="de-DE" sz="1800" b="0" i="1" u="none" strike="noStrike" cap="none" normalizeH="0" baseline="0">
                <a:ln>
                  <a:noFill/>
                </a:ln>
                <a:solidFill>
                  <a:schemeClr val="tx1"/>
                </a:solidFill>
                <a:effectLst/>
                <a:latin typeface="Arial" panose="020B0604020202020204" pitchFamily="34" charset="0"/>
              </a:rPr>
              <a:t>(Click Start Evaluation)</a:t>
            </a:r>
            <a:endParaRPr kumimoji="0" lang="de-DE" altLang="de-DE"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800" b="1" i="0" u="none" strike="noStrike" cap="none" normalizeH="0" baseline="0">
                <a:ln>
                  <a:noFill/>
                </a:ln>
                <a:solidFill>
                  <a:schemeClr val="tx1"/>
                </a:solidFill>
                <a:effectLst/>
                <a:latin typeface="Arial" panose="020B0604020202020204" pitchFamily="34" charset="0"/>
              </a:rPr>
              <a:t>The "Vibe":</a:t>
            </a:r>
            <a:r>
              <a:rPr kumimoji="0" lang="de-DE" altLang="de-DE" sz="1800" b="0" i="0" u="none" strike="noStrike" cap="none" normalizeH="0" baseline="0">
                <a:ln>
                  <a:noFill/>
                </a:ln>
                <a:solidFill>
                  <a:schemeClr val="tx1"/>
                </a:solidFill>
                <a:effectLst/>
                <a:latin typeface="Arial" panose="020B0604020202020204" pitchFamily="34" charset="0"/>
              </a:rPr>
              <a:t> "Here is the core interface. I enter the student's name. Now, watch what happens when I grade. As I move the slider, you hear a subtle click sound, and the progress ring updates instantly."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800" b="1" i="0" u="none" strike="noStrike" cap="none" normalizeH="0" baseline="0">
                <a:ln>
                  <a:noFill/>
                </a:ln>
                <a:solidFill>
                  <a:schemeClr val="tx1"/>
                </a:solidFill>
                <a:effectLst/>
                <a:latin typeface="Arial" panose="020B0604020202020204" pitchFamily="34" charset="0"/>
              </a:rPr>
              <a:t>Achievements:</a:t>
            </a:r>
            <a:r>
              <a:rPr kumimoji="0" lang="de-DE" altLang="de-DE" sz="1800" b="0" i="0" u="none" strike="noStrike" cap="none" normalizeH="0" baseline="0">
                <a:ln>
                  <a:noFill/>
                </a:ln>
                <a:solidFill>
                  <a:schemeClr val="tx1"/>
                </a:solidFill>
                <a:effectLst/>
                <a:latin typeface="Arial" panose="020B0604020202020204" pitchFamily="34" charset="0"/>
              </a:rPr>
              <a:t> </a:t>
            </a:r>
            <a:r>
              <a:rPr kumimoji="0" lang="de-DE" altLang="de-DE" sz="1800" b="0" i="1" u="none" strike="noStrike" cap="none" normalizeH="0" baseline="0">
                <a:ln>
                  <a:noFill/>
                </a:ln>
                <a:solidFill>
                  <a:schemeClr val="tx1"/>
                </a:solidFill>
                <a:effectLst/>
                <a:latin typeface="Arial" panose="020B0604020202020204" pitchFamily="34" charset="0"/>
              </a:rPr>
              <a:t>(Move sliders to hit 35 points)</a:t>
            </a:r>
            <a:r>
              <a:rPr kumimoji="0" lang="de-DE" altLang="de-DE" sz="1800" b="0" i="0" u="none" strike="noStrike" cap="none" normalizeH="0" baseline="0">
                <a:ln>
                  <a:noFill/>
                </a:ln>
                <a:solidFill>
                  <a:schemeClr val="tx1"/>
                </a:solidFill>
                <a:effectLst/>
                <a:latin typeface="Arial" panose="020B0604020202020204" pitchFamily="34" charset="0"/>
              </a:rPr>
              <a:t> "Oh! I just hit 50%. You see an 'Achievement Unlocked' pop-up. This gamification keeps the evaluator engaged."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800" b="1" i="0" u="none" strike="noStrike" cap="none" normalizeH="0" baseline="0">
                <a:ln>
                  <a:noFill/>
                </a:ln>
                <a:solidFill>
                  <a:schemeClr val="tx1"/>
                </a:solidFill>
                <a:effectLst/>
                <a:latin typeface="Arial" panose="020B0604020202020204" pitchFamily="34" charset="0"/>
              </a:rPr>
              <a:t>Validation:</a:t>
            </a:r>
            <a:r>
              <a:rPr kumimoji="0" lang="de-DE" altLang="de-DE" sz="1800" b="0" i="0" u="none" strike="noStrike" cap="none" normalizeH="0" baseline="0">
                <a:ln>
                  <a:noFill/>
                </a:ln>
                <a:solidFill>
                  <a:schemeClr val="tx1"/>
                </a:solidFill>
                <a:effectLst/>
                <a:latin typeface="Arial" panose="020B0604020202020204" pitchFamily="34" charset="0"/>
              </a:rPr>
              <a:t> "If I try to generate a report without an ID..." </a:t>
            </a:r>
            <a:r>
              <a:rPr kumimoji="0" lang="de-DE" altLang="de-DE" sz="1800" b="0" i="1" u="none" strike="noStrike" cap="none" normalizeH="0" baseline="0">
                <a:ln>
                  <a:noFill/>
                </a:ln>
                <a:solidFill>
                  <a:schemeClr val="tx1"/>
                </a:solidFill>
                <a:effectLst/>
                <a:latin typeface="Arial" panose="020B0604020202020204" pitchFamily="34" charset="0"/>
              </a:rPr>
              <a:t>(Click Generate, show Shake animation)</a:t>
            </a:r>
            <a:r>
              <a:rPr kumimoji="0" lang="de-DE" altLang="de-DE" sz="1800" b="0" i="0" u="none" strike="noStrike" cap="none" normalizeH="0" baseline="0">
                <a:ln>
                  <a:noFill/>
                </a:ln>
                <a:solidFill>
                  <a:schemeClr val="tx1"/>
                </a:solidFill>
                <a:effectLst/>
                <a:latin typeface="Arial" panose="020B0604020202020204" pitchFamily="34" charset="0"/>
              </a:rPr>
              <a:t> "The app physically shakes to alert me. Intuitive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800" b="1" i="0" u="none" strike="noStrike" cap="none" normalizeH="0" baseline="0">
                <a:ln>
                  <a:noFill/>
                </a:ln>
                <a:solidFill>
                  <a:schemeClr val="tx1"/>
                </a:solidFill>
                <a:effectLst/>
                <a:latin typeface="Arial" panose="020B0604020202020204" pitchFamily="34" charset="0"/>
              </a:rPr>
              <a:t>The Finale:</a:t>
            </a:r>
            <a:r>
              <a:rPr kumimoji="0" lang="de-DE" altLang="de-DE" sz="1800" b="0" i="0" u="none" strike="noStrike" cap="none" normalizeH="0" baseline="0">
                <a:ln>
                  <a:noFill/>
                </a:ln>
                <a:solidFill>
                  <a:schemeClr val="tx1"/>
                </a:solidFill>
                <a:effectLst/>
                <a:latin typeface="Arial" panose="020B0604020202020204" pitchFamily="34" charset="0"/>
              </a:rPr>
              <a:t> </a:t>
            </a:r>
            <a:r>
              <a:rPr kumimoji="0" lang="de-DE" altLang="de-DE" sz="1800" b="0" i="1" u="none" strike="noStrike" cap="none" normalizeH="0" baseline="0">
                <a:ln>
                  <a:noFill/>
                </a:ln>
                <a:solidFill>
                  <a:schemeClr val="tx1"/>
                </a:solidFill>
                <a:effectLst/>
                <a:latin typeface="Arial" panose="020B0604020202020204" pitchFamily="34" charset="0"/>
              </a:rPr>
              <a:t>(Fill ID, get a high score)</a:t>
            </a:r>
            <a:r>
              <a:rPr kumimoji="0" lang="de-DE" altLang="de-DE" sz="1800" b="0" i="0" u="none" strike="noStrike" cap="none" normalizeH="0" baseline="0">
                <a:ln>
                  <a:noFill/>
                </a:ln>
                <a:solidFill>
                  <a:schemeClr val="tx1"/>
                </a:solidFill>
                <a:effectLst/>
                <a:latin typeface="Arial" panose="020B0604020202020204" pitchFamily="34" charset="0"/>
              </a:rPr>
              <a:t> "Now, let's generate the report." </a:t>
            </a:r>
            <a:r>
              <a:rPr kumimoji="0" lang="de-DE" altLang="de-DE" sz="1800" b="0" i="1" u="none" strike="noStrike" cap="none" normalizeH="0" baseline="0">
                <a:ln>
                  <a:noFill/>
                </a:ln>
                <a:solidFill>
                  <a:schemeClr val="tx1"/>
                </a:solidFill>
                <a:effectLst/>
                <a:latin typeface="Arial" panose="020B0604020202020204" pitchFamily="34" charset="0"/>
              </a:rPr>
              <a:t>(Click Generate)</a:t>
            </a:r>
            <a:r>
              <a:rPr kumimoji="0" lang="de-DE" altLang="de-DE" sz="1800" b="0" i="0" u="none" strike="noStrike" cap="none" normalizeH="0" baseline="0">
                <a:ln>
                  <a:noFill/>
                </a:ln>
                <a:solidFill>
                  <a:schemeClr val="tx1"/>
                </a:solidFill>
                <a:effectLst/>
                <a:latin typeface="Arial" panose="020B0604020202020204" pitchFamily="34" charset="0"/>
              </a:rPr>
              <a:t> "Success! We get a confetti explosion and an emoji rain based on the grade."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800" b="1" i="0" u="none" strike="noStrike" cap="none" normalizeH="0" baseline="0">
                <a:ln>
                  <a:noFill/>
                </a:ln>
                <a:solidFill>
                  <a:schemeClr val="tx1"/>
                </a:solidFill>
                <a:effectLst/>
                <a:latin typeface="Arial" panose="020B0604020202020204" pitchFamily="34" charset="0"/>
              </a:rPr>
              <a:t>The PDF:</a:t>
            </a:r>
            <a:r>
              <a:rPr kumimoji="0" lang="de-DE" altLang="de-DE" sz="1800" b="0" i="0" u="none" strike="noStrike" cap="none" normalizeH="0" baseline="0">
                <a:ln>
                  <a:noFill/>
                </a:ln>
                <a:solidFill>
                  <a:schemeClr val="tx1"/>
                </a:solidFill>
                <a:effectLst/>
                <a:latin typeface="Arial" panose="020B0604020202020204" pitchFamily="34" charset="0"/>
              </a:rPr>
              <a:t> </a:t>
            </a:r>
            <a:r>
              <a:rPr kumimoji="0" lang="de-DE" altLang="de-DE" sz="1800" b="0" i="1" u="none" strike="noStrike" cap="none" normalizeH="0" baseline="0">
                <a:ln>
                  <a:noFill/>
                </a:ln>
                <a:solidFill>
                  <a:schemeClr val="tx1"/>
                </a:solidFill>
                <a:effectLst/>
                <a:latin typeface="Arial" panose="020B0604020202020204" pitchFamily="34" charset="0"/>
              </a:rPr>
              <a:t>(Open the downloaded PDF)</a:t>
            </a:r>
            <a:r>
              <a:rPr kumimoji="0" lang="de-DE" altLang="de-DE" sz="1800" b="0" i="0" u="none" strike="noStrike" cap="none" normalizeH="0" baseline="0">
                <a:ln>
                  <a:noFill/>
                </a:ln>
                <a:solidFill>
                  <a:schemeClr val="tx1"/>
                </a:solidFill>
                <a:effectLst/>
                <a:latin typeface="Arial" panose="020B0604020202020204" pitchFamily="34" charset="0"/>
              </a:rPr>
              <a:t> "And here is the result: A professional, formatted PDF, ready to be sent to the examination office."</a:t>
            </a:r>
          </a:p>
        </p:txBody>
      </p:sp>
    </p:spTree>
    <p:extLst>
      <p:ext uri="{BB962C8B-B14F-4D97-AF65-F5344CB8AC3E}">
        <p14:creationId xmlns:p14="http://schemas.microsoft.com/office/powerpoint/2010/main" val="570543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60037B-C197-2879-CDE9-FA3C6C2187D5}"/>
              </a:ext>
            </a:extLst>
          </p:cNvPr>
          <p:cNvSpPr>
            <a:spLocks noGrp="1"/>
          </p:cNvSpPr>
          <p:nvPr>
            <p:ph type="title"/>
          </p:nvPr>
        </p:nvSpPr>
        <p:spPr/>
        <p:txBody>
          <a:bodyPr/>
          <a:lstStyle/>
          <a:p>
            <a:r>
              <a:rPr lang="de-DE" dirty="0"/>
              <a:t>System Design</a:t>
            </a:r>
          </a:p>
        </p:txBody>
      </p:sp>
      <p:sp>
        <p:nvSpPr>
          <p:cNvPr id="3" name="Inhaltsplatzhalter 2">
            <a:extLst>
              <a:ext uri="{FF2B5EF4-FFF2-40B4-BE49-F238E27FC236}">
                <a16:creationId xmlns:a16="http://schemas.microsoft.com/office/drawing/2014/main" id="{2BBDF053-7454-9EF1-A143-479DFFA7E80B}"/>
              </a:ext>
            </a:extLst>
          </p:cNvPr>
          <p:cNvSpPr>
            <a:spLocks noGrp="1"/>
          </p:cNvSpPr>
          <p:nvPr>
            <p:ph idx="1"/>
          </p:nvPr>
        </p:nvSpPr>
        <p:spPr/>
        <p:txBody>
          <a:bodyPr/>
          <a:lstStyle/>
          <a:p>
            <a:r>
              <a:rPr lang="en-US" dirty="0"/>
              <a:t>"Behind the scenes, the architecture is streamlined. The Flask server handles the session and data. When we export, it triggers the </a:t>
            </a:r>
            <a:r>
              <a:rPr lang="en-US" dirty="0" err="1"/>
              <a:t>ReportLab</a:t>
            </a:r>
            <a:r>
              <a:rPr lang="en-US" dirty="0"/>
              <a:t> engine to draw the PDF canvas programmatically. Data is currently held in an in-memory structure for speed."</a:t>
            </a:r>
            <a:endParaRPr lang="de-DE" dirty="0"/>
          </a:p>
        </p:txBody>
      </p:sp>
    </p:spTree>
    <p:extLst>
      <p:ext uri="{BB962C8B-B14F-4D97-AF65-F5344CB8AC3E}">
        <p14:creationId xmlns:p14="http://schemas.microsoft.com/office/powerpoint/2010/main" val="1082469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B5C7E6-B31C-3105-2AC9-F82B77297E0E}"/>
              </a:ext>
            </a:extLst>
          </p:cNvPr>
          <p:cNvSpPr>
            <a:spLocks noGrp="1"/>
          </p:cNvSpPr>
          <p:nvPr>
            <p:ph type="title"/>
          </p:nvPr>
        </p:nvSpPr>
        <p:spPr/>
        <p:txBody>
          <a:bodyPr/>
          <a:lstStyle/>
          <a:p>
            <a:r>
              <a:rPr lang="de-DE" dirty="0"/>
              <a:t>Innovation</a:t>
            </a:r>
          </a:p>
        </p:txBody>
      </p:sp>
      <p:sp>
        <p:nvSpPr>
          <p:cNvPr id="3" name="Inhaltsplatzhalter 2">
            <a:extLst>
              <a:ext uri="{FF2B5EF4-FFF2-40B4-BE49-F238E27FC236}">
                <a16:creationId xmlns:a16="http://schemas.microsoft.com/office/drawing/2014/main" id="{BD6425C1-CEE1-46A1-C4E6-AEEA0C6794FC}"/>
              </a:ext>
            </a:extLst>
          </p:cNvPr>
          <p:cNvSpPr>
            <a:spLocks noGrp="1"/>
          </p:cNvSpPr>
          <p:nvPr>
            <p:ph idx="1"/>
          </p:nvPr>
        </p:nvSpPr>
        <p:spPr/>
        <p:txBody>
          <a:bodyPr/>
          <a:lstStyle/>
          <a:p>
            <a:r>
              <a:rPr lang="en-US" dirty="0"/>
              <a:t>"What makes this unique? I avoided external animation libraries. The particle system, the confetti, and the sound engine were all implemented using native Browser APIs (Canvas and Web Audio). This ensures the app is incredibly lightweight."</a:t>
            </a:r>
            <a:endParaRPr lang="de-DE" dirty="0"/>
          </a:p>
        </p:txBody>
      </p:sp>
    </p:spTree>
    <p:extLst>
      <p:ext uri="{BB962C8B-B14F-4D97-AF65-F5344CB8AC3E}">
        <p14:creationId xmlns:p14="http://schemas.microsoft.com/office/powerpoint/2010/main" val="1296166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43D764-3FC1-52D8-9CC7-6A7F7C2B1CC4}"/>
              </a:ext>
            </a:extLst>
          </p:cNvPr>
          <p:cNvSpPr>
            <a:spLocks noGrp="1"/>
          </p:cNvSpPr>
          <p:nvPr>
            <p:ph type="title"/>
          </p:nvPr>
        </p:nvSpPr>
        <p:spPr/>
        <p:txBody>
          <a:bodyPr/>
          <a:lstStyle/>
          <a:p>
            <a:r>
              <a:rPr lang="de-DE" dirty="0" err="1"/>
              <a:t>Conclusion</a:t>
            </a:r>
            <a:endParaRPr lang="de-DE" dirty="0"/>
          </a:p>
        </p:txBody>
      </p:sp>
      <p:sp>
        <p:nvSpPr>
          <p:cNvPr id="3" name="Inhaltsplatzhalter 2">
            <a:extLst>
              <a:ext uri="{FF2B5EF4-FFF2-40B4-BE49-F238E27FC236}">
                <a16:creationId xmlns:a16="http://schemas.microsoft.com/office/drawing/2014/main" id="{FB702FE9-3C84-FF10-8C34-1206F8A5072F}"/>
              </a:ext>
            </a:extLst>
          </p:cNvPr>
          <p:cNvSpPr>
            <a:spLocks noGrp="1"/>
          </p:cNvSpPr>
          <p:nvPr>
            <p:ph idx="1"/>
          </p:nvPr>
        </p:nvSpPr>
        <p:spPr/>
        <p:txBody>
          <a:bodyPr/>
          <a:lstStyle/>
          <a:p>
            <a:r>
              <a:rPr lang="en-US" dirty="0"/>
              <a:t>"In conclusion, </a:t>
            </a:r>
            <a:r>
              <a:rPr lang="en-US" dirty="0" err="1"/>
              <a:t>VibeCoding</a:t>
            </a:r>
            <a:r>
              <a:rPr lang="en-US" dirty="0"/>
              <a:t> proves that administrative tools can be modern and fun. It saves time, ensures consistent grading via the rubric, and reduces user fatigue. Future steps would include adding a permanent database like PostgreSQL. Thank you, and I am open to questions."</a:t>
            </a:r>
            <a:endParaRPr lang="de-DE" dirty="0"/>
          </a:p>
        </p:txBody>
      </p:sp>
    </p:spTree>
    <p:extLst>
      <p:ext uri="{BB962C8B-B14F-4D97-AF65-F5344CB8AC3E}">
        <p14:creationId xmlns:p14="http://schemas.microsoft.com/office/powerpoint/2010/main" val="360936392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578</Words>
  <Application>Microsoft Office PowerPoint</Application>
  <PresentationFormat>Breitbild</PresentationFormat>
  <Paragraphs>24</Paragraphs>
  <Slides>7</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Aptos</vt:lpstr>
      <vt:lpstr>Aptos Display</vt:lpstr>
      <vt:lpstr>Arial</vt:lpstr>
      <vt:lpstr>Office</vt:lpstr>
      <vt:lpstr>VibeCoding Evaluation Tool</vt:lpstr>
      <vt:lpstr>The Problem</vt:lpstr>
      <vt:lpstr>System Requirements &amp; Tech Stack</vt:lpstr>
      <vt:lpstr>LIVE DEMO - Switch to Browser (Action: Open http://localhost:5000)</vt:lpstr>
      <vt:lpstr>System Design</vt:lpstr>
      <vt:lpstr>Innovation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Aiman Hozal</dc:creator>
  <cp:lastModifiedBy>Aiman Hozal</cp:lastModifiedBy>
  <cp:revision>1</cp:revision>
  <dcterms:created xsi:type="dcterms:W3CDTF">2025-12-10T08:30:09Z</dcterms:created>
  <dcterms:modified xsi:type="dcterms:W3CDTF">2025-12-10T09:53:37Z</dcterms:modified>
</cp:coreProperties>
</file>